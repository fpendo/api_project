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1.32</c:v>
                </c:pt>
                <c:pt idx="2">
                  <c:v>2.4</c:v>
                </c:pt>
                <c:pt idx="3">
                  <c:v>3.77</c:v>
                </c:pt>
                <c:pt idx="4">
                  <c:v>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0.96</c:v>
                </c:pt>
                <c:pt idx="1">
                  <c:v>2.47</c:v>
                </c:pt>
                <c:pt idx="2">
                  <c:v>4.48</c:v>
                </c:pt>
                <c:pt idx="3">
                  <c:v>6.82</c:v>
                </c:pt>
                <c:pt idx="4">
                  <c:v>9.61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Aggressive</c:v>
                </c:pt>
              </c:strCache>
            </c:strRef>
          </c:tx>
          <c:spPr>
            <a:solidFill>
              <a:srgbClr val="8B5CF6"/>
            </a:solidFill>
            <a:ln w="2540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1.56</c:v>
                </c:pt>
                <c:pt idx="1">
                  <c:v>4.06</c:v>
                </c:pt>
                <c:pt idx="2">
                  <c:v>7.2</c:v>
                </c:pt>
                <c:pt idx="3">
                  <c:v>10.88</c:v>
                </c:pt>
                <c:pt idx="4">
                  <c:v>15.13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ETAnalytics | Confidential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058400" y="6400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www.etanalytics.co.uk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37160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57784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Know Your Investors.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B6D4"/>
                </a:solidFill>
              </a:rPr>
              <a:t>Grow Your Assets.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The ownership intelligence platform built for European ETF issuers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€2.8 Trillion Blind Spot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European ETF issuers manage €2.8 trillion in assets — yet most can't answer a basic question: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6B6D4"/>
                </a:solidFill>
              </a:rPr>
              <a:t>"Who actually owns our funds?"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474720" cy="18288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70%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of ETF trades happen off-exchange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3017520"/>
            <a:ext cx="3474720" cy="18288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3200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40233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visibility into beneficial ownership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3017520"/>
            <a:ext cx="3474720" cy="18288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200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£100M+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138160" y="40233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spent on distribution with no ROI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Result: Issuers can't prove distribution ROI, identify key relationships, or spot concentration risk.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ETAnalytics: See Through the Nominees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We operationalise Irish statutory disclosure rights to reveal beneficial owners behind nominee accounts.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317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Automated Disclosure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We send Section 1062 requests to custodians on your behalf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3317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Entity Resolution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34747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5,000+ entity database with 95%+ matching accuracy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3317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3816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Intelligence Dashboard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38160" y="34747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See who owns your funds, track changes, prove ROI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155680" cy="137160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Why ETAnalytics?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✓ Only platform using Irish disclosure rights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51206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✓ 90 days to visibility (vs 6-12 months manual)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51206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✓ 80%+ gross margins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Market Opportunity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164592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€2.8T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European ETF AUM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Growing 15.5% annually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64592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554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78%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Irish Domiciled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Of European ETFs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164592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554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120+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Target Issuers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Irish UCITS ETF issuers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2651760" cy="164592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554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€4.5T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Projected 2030 AUM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0" y="26517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60% growth opportunity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Addressable Market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27432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</a:rPr>
              <a:t>TAM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40690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£27M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All European ETF issuers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27432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9204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</a:rPr>
              <a:t>SAM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0" y="489204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£18M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0" y="49377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Irish-domiciled UCITS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2743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7150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</a:rPr>
              <a:t>SOM (Y5)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57150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£9.6M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840480" y="57607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52% market penetration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5-Year Financial Projections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11887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Key Metrics (Base Case)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64592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Y1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Y5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ARR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£960K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£9.61M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Customers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Gross 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EBITDA 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-35%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34%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LTV:CAC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19x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34x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0" y="45720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Exit Scenarios (Year 5)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315200" y="49377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Conservative: £34M (6x)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Base Case: £77M (8x)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Aggressive: £151M (10x)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P&amp;L Summary - Base Case (£'000)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Y1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Y2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Y3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Y4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Y5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960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2,470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4,480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6,815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9,610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Gross Profit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768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1,976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3,584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5,452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7,688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OpEx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(1,100)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(1,750)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(2,500)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(3,460)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(4,430)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EBITDA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(332)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226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1,084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1,992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3,258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EBITDA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-35%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24%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29%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34%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Net Income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(372)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124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746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1,412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</a:rPr>
                        <a:t>2,346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Path to Profitability: EBITDA positive by Year 2 (Month 14)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5760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Cumulative 5-Year Net Income: £4.26M | Rule of 40 Score: 75 (Year 5)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Competitive Landscape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743200"/>
                <a:gridCol w="246888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Factor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ETAnalytics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Bloomberg/Refinitiv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Broadridge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Beneficial Ownership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✓ Statutory disclosure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✗ Estimates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✗ Nominee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ETF-Specific Focus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✓ Purpose-built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~ Generic platform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~ IR focus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Automated Disclosure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✓ Full workflow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✗ Not offered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✗ Manual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Time to 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90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6-12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£80K-£500K/year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£200K+ terminal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£300K+ services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Why ETAnalytics Wins: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→ Only platform operationalising Irish Companies Act disclosure rights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760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→ Purpose-built for ETF issuers — not adapted from equity IR tools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217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→ 95%+ entity matching accuracy vs. 60-70% industry standard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65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20240" y="2286000"/>
            <a:ext cx="1645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Connect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Share your register via secure upload or API 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82880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965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1645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00400" y="30175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Request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We send Section 1062 disclosure requests to all custodians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65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7406640" y="2286000"/>
            <a:ext cx="1645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943600" y="30175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Resolve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Our engine matches responses to our 5,000+ entity database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182880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965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686800" y="30175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Interactive dashboard reveals ownership structure &amp; trends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Timeline to Full Visibility: 90 Days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5669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Week 1-2: Integration | Week 2-4: Disclosure Requests | Week 4-12: Response Processing &amp; Analysis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What You'll Discover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03520" cy="182880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🏦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60-90%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2468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Ownership identified in 90 days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544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06640" y="1645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£1B+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406640" y="2468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Hidden institutional relationships revealed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303520" cy="182880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3931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3-5x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45920" y="4754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Better distribution ROI visibility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303520" cy="182880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8404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406640" y="3931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15-25%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406640" y="4754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Concentration risks identified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1D5DB"/>
                </a:solidFill>
              </a:rPr>
              <a:t>"For the first time, we can see exactly who owns our ETFs and prove our distribution strategy is working."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Pricing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411480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Starter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£80K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&lt;£10B AUM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Up to 10 funds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Quarterly disclosure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Standard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06B6D4">
              <a:alpha val="2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3716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Professional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768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£150K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297680" y="26517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£10-50B AUM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Up to 50 funds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Monthly disclosure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41148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Advanced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4572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API access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188720"/>
            <a:ext cx="3474720" cy="411480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3716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Enterprise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3816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£250K+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138160" y="26517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&gt;£50B AUM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Unlimited funds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6576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Real-time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1148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Custom integrations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4572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✓ Dedicated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669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All plans include: Implementation support | Training | Quarterly business reviews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1D5DB"/>
                </a:solidFill>
              </a:rPr>
              <a:t>Ready to see who really owns your ETFs?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Discovery Call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30-minute call to understand your ownership challenges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37744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32004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See the platform in action with sample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28600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37744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0" y="32004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Pilot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90-day pilot with one fund family to prove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4572000"/>
            <a:ext cx="7315200" cy="1645920"/>
          </a:xfrm>
          <a:prstGeom prst="roundRect">
            <a:avLst/>
          </a:prstGeom>
          <a:solidFill>
            <a:srgbClr val="06B6D4">
              <a:alpha val="2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4754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 Started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5303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📧 sales@etanalytics.co.uk  |  🌐 www.etanalytics.co.uk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828800"/>
            <a:ext cx="1097280" cy="10972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96596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</a:rPr>
              <a:t>Know Your Investors. Grow Your Assets.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www.etanalytics.co.uk | sales@etanalytics.co.uk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ETAnalytics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ETAnalytics - Know Your Investors</dc:title>
  <dc:subject>ETF Ownership Intelligence Platform</dc:subject>
  <dc:creator>ETAnalytics</dc:creator>
  <cp:lastModifiedBy>ETAnalytics</cp:lastModifiedBy>
  <cp:revision>1</cp:revision>
  <dcterms:created xsi:type="dcterms:W3CDTF">2026-01-20T08:30:04Z</dcterms:created>
  <dcterms:modified xsi:type="dcterms:W3CDTF">2026-01-20T08:30:04Z</dcterms:modified>
</cp:coreProperties>
</file>